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7772400" cy="100584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10" y="268271"/>
            <a:ext cx="491830" cy="5961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1" y="462022"/>
            <a:ext cx="1311546" cy="5961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009" y="1386066"/>
            <a:ext cx="789908" cy="44712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1058179" y="755523"/>
            <a:ext cx="1821074" cy="419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00"/>
              </a:lnSpc>
              <a:buNone/>
            </a:pPr>
            <a:r>
              <a:rPr lang="en-US" sz="2750" spc="15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140151" y="1160198"/>
            <a:ext cx="1984086" cy="137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0"/>
              </a:lnSpc>
              <a:buNone/>
            </a:pPr>
            <a:r>
              <a:rPr lang="en-US" sz="900" spc="1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HEART OF BURQUITLAM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2521559" y="2148658"/>
            <a:ext cx="2841062" cy="2209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40"/>
              </a:lnSpc>
              <a:buNone/>
            </a:pPr>
            <a:r>
              <a:rPr lang="en-US" sz="1450" b="1" spc="-3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 - Prices at a Glance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3441411" y="2475204"/>
            <a:ext cx="982728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October 2021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54453" y="3062953"/>
          <a:ext cx="5588975" cy="2376864"/>
        </p:xfrm>
        <a:graphic>
          <a:graphicData uri="http://schemas.openxmlformats.org/drawingml/2006/table">
            <a:tbl>
              <a:tblPr/>
              <a:tblGrid>
                <a:gridCol w="1754938"/>
                <a:gridCol w="1119658"/>
                <a:gridCol w="1384203"/>
                <a:gridCol w="1330176"/>
              </a:tblGrid>
              <a:tr h="320702"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Suite Type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Plan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Square Feet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Starting From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569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One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AT*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476-479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$449,900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749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B1 - B7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518 - 689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$499,900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7853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One Bedroom + Den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C1 - C6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644-769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$599,900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Two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D1 - D7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801-989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$729,900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4513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Two Bedroom + Den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E1 - E7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834 - 1,062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$749,900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20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Three Bedroom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F11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1,023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$929,900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6711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Townhomes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TH1- TH4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1,338 - 1,553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$1,249,900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1080535" y="5897299"/>
            <a:ext cx="1383271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1000" spc="4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Deposit Structure: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292916" y="6178244"/>
            <a:ext cx="6613619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27285" indent="-227285">
              <a:lnSpc>
                <a:spcPts val="1260"/>
              </a:lnSpc>
              <a:buFont typeface="Arial"/>
              <a:buChar char="•"/>
            </a:pPr>
            <a:r>
              <a:rPr lang="en-US" sz="1050" spc="18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Initial $10,000 bank draft due upon signing Offer to Purchase and Agreement Sale;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92916" y="6357585"/>
            <a:ext cx="475528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00"/>
              </a:lnSpc>
              <a:buFont typeface="Arial"/>
              <a:buChar char="•"/>
            </a:pPr>
            <a:r>
              <a:rPr lang="en-US" sz="1000" spc="3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within 7 days (less $10,000 initial deposit) upon signing;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292916" y="6529687"/>
            <a:ext cx="1383271" cy="1447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6107" indent="-216107">
              <a:lnSpc>
                <a:spcPts val="1140"/>
              </a:lnSpc>
              <a:buFont typeface="Arial"/>
              <a:buChar char="•"/>
            </a:pPr>
            <a:r>
              <a:rPr lang="en-US" sz="950" spc="18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180 days;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89190" y="6693932"/>
            <a:ext cx="1397244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00"/>
              </a:lnSpc>
              <a:buFont typeface="Arial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365 days;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89190" y="6855065"/>
            <a:ext cx="1415873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00"/>
              </a:lnSpc>
              <a:buFont typeface="Arial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5% in 730 days.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292916" y="7033933"/>
            <a:ext cx="5649521" cy="1600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219833" indent="-219833">
              <a:lnSpc>
                <a:spcPts val="1260"/>
              </a:lnSpc>
              <a:buFont typeface="Arial"/>
              <a:buChar char="•"/>
            </a:pPr>
            <a:r>
              <a:rPr lang="en-US" sz="1050" spc="2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Certified cheques or bank drafts made out to</a:t>
            </a:r>
            <a:r>
              <a:rPr lang="en-US" sz="1050" b="1" spc="2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Terra Law Corp. in trust'.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95439" y="7909155"/>
            <a:ext cx="5702915" cy="1948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67"/>
              </a:lnSpc>
              <a:buNone/>
            </a:pPr>
            <a:r>
              <a:rPr lang="en-US" sz="650" spc="1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Prices do not include GST, may change without notice and are subject to availability. Sulte sizes may vary on final Strata Plan. Concert reserves the right to</a:t>
            </a:r>
            <a:r>
              <a:rPr lang="en-US" sz="65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</a:t>
            </a:r>
            <a:r>
              <a:rPr lang="en-US" sz="600" spc="1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make modifications and changes to floorplans, project design, specifications and features. October 2021. CONCERT REALTY SERVICES LTD. E. &amp;O.E.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69357" y="8798979"/>
            <a:ext cx="2375314" cy="2485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79"/>
              </a:lnSpc>
              <a:buNone/>
            </a:pPr>
            <a:r>
              <a:rPr lang="en-US" sz="700" b="1" spc="3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MyriadbyConcert.com</a:t>
            </a:r>
            <a:br>
              <a:rPr lang="en-US" sz="750"/>
            </a:br>
            <a:r>
              <a:rPr lang="en-US" sz="750" spc="37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101 - 511 Clarke Road, Coquitlam, BC V3J 0J1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61905" y="9063082"/>
            <a:ext cx="2920239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en-US" sz="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604.335.0696 | Admin.Myriad@ConcertProperties.com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827437" y="9056054"/>
            <a:ext cx="1248204" cy="12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en-US" sz="14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CONCERT®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