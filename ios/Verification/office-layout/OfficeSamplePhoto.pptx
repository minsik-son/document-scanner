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2"/>
  </p:sldIdLst>
  <p:sldSz cx="7772400" cy="100584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310" y="268271"/>
            <a:ext cx="476926" cy="59616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371" y="462022"/>
            <a:ext cx="1311546" cy="59616"/>
          </a:xfrm>
          <a:prstGeom prst="rect">
            <a:avLst/>
          </a:prstGeom>
        </p:spPr>
      </p:pic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054453" y="3069066"/>
          <a:ext cx="5588975" cy="2370748"/>
        </p:xfrm>
        <a:graphic>
          <a:graphicData uri="http://schemas.openxmlformats.org/drawingml/2006/table">
            <a:tbl>
              <a:tblPr/>
              <a:tblGrid>
                <a:gridCol w="1754938"/>
                <a:gridCol w="1119658"/>
                <a:gridCol w="1384203"/>
                <a:gridCol w="1330176"/>
              </a:tblGrid>
              <a:tr h="314589">
                <a:tc>
                  <a:txBody>
                    <a:bodyPr/>
                    <a:lstStyle/>
                    <a:p>
                      <a:pPr algn="l"/>
                      <a:r>
                        <a:rPr lang="en-US" sz="1200" u="sng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Suite Type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sng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Plan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sng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Square Feet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sng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Starting From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315692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One Bedroom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AT*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476-479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$449,900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277214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B1 - B7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518 -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 689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$499,900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279685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One Bedroom + Den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C1 - C6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644-769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$599,900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293988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Two Bedroom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D1 - D7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801-989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$729,900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31094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Two Bedroom + Den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E1 - E7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834-1,062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$749,900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311524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Three Bedroom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F1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1,023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$929,900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267116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Townhomes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TH1 - TH4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1,338-1,553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$1,249,900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 5"/>
          <p:cNvSpPr txBox="1"/>
          <p:nvPr/>
        </p:nvSpPr>
        <p:spPr>
          <a:xfrm>
            <a:off x="1032097" y="755523"/>
            <a:ext cx="1853676" cy="4191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300"/>
              </a:lnSpc>
              <a:buNone/>
            </a:pPr>
            <a:r>
              <a:rPr lang="en-US" sz="2174" spc="196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MYRIAD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143877" y="1171620"/>
            <a:ext cx="1974771" cy="1143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00"/>
              </a:lnSpc>
              <a:buNone/>
            </a:pPr>
            <a:r>
              <a:rPr lang="en-US" sz="750" spc="196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HEART OF BURQUITLAM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2522025" y="2148658"/>
            <a:ext cx="2836404" cy="2209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740"/>
              </a:lnSpc>
              <a:buNone/>
            </a:pPr>
            <a:r>
              <a:rPr lang="en-US" sz="1450" b="1" spc="-3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Myriad - Prices at a Glance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3441411" y="2475204"/>
            <a:ext cx="982728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200"/>
              </a:lnSpc>
              <a:buNone/>
            </a:pPr>
            <a:r>
              <a:rPr lang="en-US" sz="1000" b="1" spc="-27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October</a:t>
            </a:r>
            <a:r>
              <a:rPr lang="en-US" sz="1000" spc="-27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2021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1080535" y="5897299"/>
            <a:ext cx="1383271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00"/>
              </a:lnSpc>
              <a:buNone/>
            </a:pPr>
            <a:r>
              <a:rPr lang="en-US" sz="1000" spc="4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Deposit Structure: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1292916" y="6178244"/>
            <a:ext cx="6613619" cy="1600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227285" indent="-227285">
              <a:lnSpc>
                <a:spcPts val="1260"/>
              </a:lnSpc>
              <a:buFont typeface="Arial"/>
              <a:buChar char="•"/>
            </a:pPr>
            <a:r>
              <a:rPr lang="en-US" sz="1050" spc="18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Initial $10,000 bank draft due upon signing Offer to Purchase and Agreement Sale;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1292916" y="6357585"/>
            <a:ext cx="4755285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219833" indent="-219833">
              <a:lnSpc>
                <a:spcPts val="1200"/>
              </a:lnSpc>
              <a:buFont typeface="Arial"/>
              <a:buChar char="•"/>
            </a:pPr>
            <a:r>
              <a:rPr lang="en-US" sz="1000" spc="3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5% within 7 days (less $10,000 initial deposit) upon signing;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1241831" y="6529687"/>
            <a:ext cx="1447128" cy="1447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267192" indent="-267192">
              <a:lnSpc>
                <a:spcPts val="1140"/>
              </a:lnSpc>
              <a:buFont typeface="Arial"/>
              <a:buChar char="•"/>
            </a:pPr>
            <a:r>
              <a:rPr lang="en-US" sz="950" spc="18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5% in 180 days;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1289190" y="6693932"/>
            <a:ext cx="1397244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219833" indent="-219833">
              <a:lnSpc>
                <a:spcPts val="1200"/>
              </a:lnSpc>
              <a:buFont typeface="Arial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5% in 365 days;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1289190" y="6855065"/>
            <a:ext cx="1415873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219833" indent="-219833">
              <a:lnSpc>
                <a:spcPts val="1200"/>
              </a:lnSpc>
              <a:buFont typeface="Arial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5% in 730 days.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1292916" y="7033933"/>
            <a:ext cx="5649521" cy="1600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219833" indent="-219833">
              <a:lnSpc>
                <a:spcPts val="1260"/>
              </a:lnSpc>
              <a:buFont typeface="Arial"/>
              <a:buChar char="•"/>
            </a:pPr>
            <a:r>
              <a:rPr lang="en-US" sz="1050" spc="2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Certified cheques or bank drafts made out to</a:t>
            </a:r>
            <a:r>
              <a:rPr lang="en-US" sz="1050" b="1" spc="2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Terra Law Corp. in trust'.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1080535" y="7909155"/>
            <a:ext cx="5718266" cy="19481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767"/>
              </a:lnSpc>
              <a:buNone/>
            </a:pPr>
            <a:r>
              <a:rPr lang="en-US" sz="650" spc="1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Prices do not include GST, may change without notice and are subject to availability. Sulte sizes may vary on final Strata Plan. Concert reserves the right to</a:t>
            </a:r>
            <a:r>
              <a:rPr lang="en-US" sz="65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</a:t>
            </a:r>
            <a:r>
              <a:rPr lang="en-US" sz="600" spc="1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nake modifications and changes to floorplans, project design, specifications and features. October 2021. CONCERT REALTY SERVICES LTD. E.8O.!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1069357" y="8798979"/>
            <a:ext cx="2370657" cy="24857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79"/>
              </a:lnSpc>
              <a:buNone/>
            </a:pPr>
            <a:r>
              <a:rPr lang="en-US" sz="700" b="1" spc="37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MyriadbyConcert.com</a:t>
            </a:r>
            <a:br>
              <a:rPr lang="en-US" sz="750"/>
            </a:br>
            <a:r>
              <a:rPr lang="en-US" sz="750" spc="37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101 - 511 Clarke Road, Coquitlam, BC V3J 0J1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1065631" y="9066892"/>
            <a:ext cx="2915581" cy="1143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lang="en-US" sz="75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604.335.0696 | Admin.Myriad@ConcertProperties.com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5827437" y="9059864"/>
            <a:ext cx="1248204" cy="1143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CONCERT®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