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10" y="268271"/>
            <a:ext cx="476926" cy="59616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71" y="462022"/>
            <a:ext cx="1311546" cy="59616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54453" y="3057212"/>
          <a:ext cx="5588975" cy="2377199"/>
        </p:xfrm>
        <a:graphic>
          <a:graphicData uri="http://schemas.openxmlformats.org/drawingml/2006/table">
            <a:tbl>
              <a:tblPr/>
              <a:tblGrid>
                <a:gridCol w="1754938"/>
                <a:gridCol w="1119658"/>
                <a:gridCol w="1384203"/>
                <a:gridCol w="1330176"/>
              </a:tblGrid>
              <a:tr h="318970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24837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476-479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1847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262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644-769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777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801-989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922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834-1,062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3333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58588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1,338-1,553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 5"/>
          <p:cNvSpPr txBox="1"/>
          <p:nvPr/>
        </p:nvSpPr>
        <p:spPr>
          <a:xfrm>
            <a:off x="1032097" y="755523"/>
            <a:ext cx="185367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2140" spc="19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143877" y="1168844"/>
            <a:ext cx="1974771" cy="114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00"/>
              </a:lnSpc>
              <a:buNone/>
            </a:pPr>
            <a:r>
              <a:rPr lang="en-US" sz="750" spc="19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522025" y="2134036"/>
            <a:ext cx="2836404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3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441411" y="2468083"/>
            <a:ext cx="982728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sz="1000" b="1" spc="-2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</a:t>
            </a:r>
            <a:r>
              <a:rPr lang="en-US" sz="1000" spc="-2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2021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080535" y="5897299"/>
            <a:ext cx="1383271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spc="4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292916" y="6181997"/>
            <a:ext cx="6613619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27285" indent="-227285">
              <a:lnSpc>
                <a:spcPts val="1260"/>
              </a:lnSpc>
              <a:buFont typeface="Arial"/>
              <a:buChar char="•"/>
            </a:pPr>
            <a:r>
              <a:rPr lang="en-US" sz="10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92916" y="6372952"/>
            <a:ext cx="49835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92916" y="6357585"/>
            <a:ext cx="4755285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spc="3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92916" y="6529687"/>
            <a:ext cx="1383271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6107" indent="-216107">
              <a:lnSpc>
                <a:spcPts val="1140"/>
              </a:lnSpc>
              <a:buFont typeface="Arial"/>
              <a:buChar char="•"/>
            </a:pPr>
            <a:r>
              <a:rPr lang="en-US" sz="9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89190" y="6693932"/>
            <a:ext cx="1397244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89190" y="6855065"/>
            <a:ext cx="1415873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92916" y="7033933"/>
            <a:ext cx="564952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60"/>
              </a:lnSpc>
              <a:buFont typeface="Arial"/>
              <a:buChar char="•"/>
            </a:pPr>
            <a:r>
              <a:rPr lang="en-US" sz="1050" spc="1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spc="1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 in trust'.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65631" y="7920064"/>
            <a:ext cx="5768157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Prices do not include GST, may change without notice and are subject to availability. Suite sizes may vary on final Strata Plan. Concert reserves the right to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00" spc="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2021. CONCERT REALTY SERVICES LTD. E.&amp;O.E.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69357" y="8798979"/>
            <a:ext cx="2370657" cy="23395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21"/>
              </a:lnSpc>
              <a:buNone/>
            </a:pPr>
            <a:r>
              <a:rPr lang="en-US" sz="700" b="1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750"/>
            </a:br>
            <a:r>
              <a:rPr lang="en-US" sz="750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0/1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65631" y="9066892"/>
            <a:ext cx="2915581" cy="114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7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27437" y="9052553"/>
            <a:ext cx="1248204" cy="114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