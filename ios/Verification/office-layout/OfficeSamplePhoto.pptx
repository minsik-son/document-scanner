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</p:sldIdLst>
  <p:sldSz cx="7772400" cy="100584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10" y="268271"/>
            <a:ext cx="476926" cy="59616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371" y="462022"/>
            <a:ext cx="1311546" cy="298079"/>
          </a:xfrm>
          <a:prstGeom prst="rect">
            <a:avLst/>
          </a:prstGeom>
        </p:spPr>
      </p:pic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054453" y="3057212"/>
          <a:ext cx="5588975" cy="2377199"/>
        </p:xfrm>
        <a:graphic>
          <a:graphicData uri="http://schemas.openxmlformats.org/drawingml/2006/table">
            <a:tbl>
              <a:tblPr/>
              <a:tblGrid>
                <a:gridCol w="1754938"/>
                <a:gridCol w="1119658"/>
                <a:gridCol w="1384203"/>
                <a:gridCol w="1330176"/>
              </a:tblGrid>
              <a:tr h="318970"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Suite Type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Plan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Square Feet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u="sng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Starting From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24837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AT*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476-479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81847"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B1 - B7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518 -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 689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$499,900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72629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One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C1 - C6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644-769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$599,900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8777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D1 - D7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801-989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9225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Two Bedroom + Den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E1 - E7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834-1,062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$749,900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313333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Three Bedroom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F1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1,023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$929,900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  <a:tr h="258588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Townhomes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TH1 - TH4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1,338-1,553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  <a:ea typeface="Malgun Gothic"/>
                          <a:cs typeface="Arial"/>
                        </a:rPr>
                        <a:t>$1,249,900</a:t>
                      </a:r>
                    </a:p>
                  </a:txBody>
                  <a:tcPr marL="45720" marR="4572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 5"/>
          <p:cNvSpPr txBox="1"/>
          <p:nvPr/>
        </p:nvSpPr>
        <p:spPr>
          <a:xfrm>
            <a:off x="1032097" y="755523"/>
            <a:ext cx="1853676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buNone/>
            </a:pPr>
            <a:r>
              <a:rPr lang="en-US" sz="2140" spc="19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143877" y="1168844"/>
            <a:ext cx="1974771" cy="114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00"/>
              </a:lnSpc>
              <a:buNone/>
            </a:pPr>
            <a:r>
              <a:rPr lang="en-US" sz="750" spc="196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HEART OF BURQUITLAM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2522025" y="2134036"/>
            <a:ext cx="2836404" cy="2209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740"/>
              </a:lnSpc>
              <a:buNone/>
            </a:pPr>
            <a:r>
              <a:rPr lang="en-US" sz="1450" b="1" spc="-3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 - Prices at a Glance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3441411" y="2468083"/>
            <a:ext cx="982728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sz="1000" b="1" spc="-2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October</a:t>
            </a:r>
            <a:r>
              <a:rPr lang="en-US" sz="1000" spc="-2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2021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080535" y="5897299"/>
            <a:ext cx="1383271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1000" spc="42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Deposit Structure: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292916" y="6181997"/>
            <a:ext cx="6613619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27285" indent="-227285">
              <a:lnSpc>
                <a:spcPts val="1260"/>
              </a:lnSpc>
              <a:buFont typeface="Arial"/>
              <a:buChar char="•"/>
            </a:pPr>
            <a:r>
              <a:rPr lang="en-US" sz="1050" spc="1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Initial $10,000 bank draft due upon signing Offer to Purchase and Agreement Sale;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1292916" y="6372952"/>
            <a:ext cx="49835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292916" y="6357585"/>
            <a:ext cx="4755285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spc="3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within 7 days (less $10,000 initial deposit) upon signing;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1292916" y="6529687"/>
            <a:ext cx="1383271" cy="1447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6107" indent="-216107">
              <a:lnSpc>
                <a:spcPts val="1140"/>
              </a:lnSpc>
              <a:buFont typeface="Arial"/>
              <a:buChar char="•"/>
            </a:pPr>
            <a:r>
              <a:rPr lang="en-US" sz="950" spc="18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180 days;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289190" y="6693932"/>
            <a:ext cx="1397244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365 days;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1289190" y="6855065"/>
            <a:ext cx="1415873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00"/>
              </a:lnSpc>
              <a:buFont typeface="Arial"/>
              <a:buChar char="•"/>
            </a:pPr>
            <a:r>
              <a:rPr lang="en-US" sz="100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5% in 730 days.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1292916" y="7033933"/>
            <a:ext cx="5649521" cy="1600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219833" indent="-219833">
              <a:lnSpc>
                <a:spcPts val="1260"/>
              </a:lnSpc>
              <a:buFont typeface="Arial"/>
              <a:buChar char="•"/>
            </a:pPr>
            <a:r>
              <a:rPr lang="en-US" sz="1050" spc="1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Certified cheques or bank drafts made out to</a:t>
            </a:r>
            <a:r>
              <a:rPr lang="en-US" sz="1050" b="1" spc="1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Terra Law Corp. in trust'.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1065631" y="7920064"/>
            <a:ext cx="5768157" cy="19481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en-US" sz="650" spc="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Prices do not include GST, may change without notice and are subject to availability. Suite sizes may vary on final Strata Plan. Concert reserves the right to</a:t>
            </a:r>
            <a:r>
              <a:rPr lang="en-US" sz="6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 </a:t>
            </a:r>
            <a:r>
              <a:rPr lang="en-US" sz="600" spc="9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make modifications and changes to floorplans, project design, specifications and features. October 2021. CONCERT REALTY SERVICES LTD. E.&amp;O.E.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069357" y="8798979"/>
            <a:ext cx="2370657" cy="23395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21"/>
              </a:lnSpc>
              <a:buNone/>
            </a:pPr>
            <a:r>
              <a:rPr lang="en-US" sz="700" b="1" spc="3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MyriadbyConcert.com</a:t>
            </a:r>
            <a:br>
              <a:rPr lang="en-US" sz="750"/>
            </a:br>
            <a:r>
              <a:rPr lang="en-US" sz="750" spc="37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101 - 511 Clarke Road, Coquitlam, BC V3J 0/1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1065631" y="9066892"/>
            <a:ext cx="2915581" cy="114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750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604.335.0696 | Admin.Myriad@ConcertProperties.com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27437" y="9052553"/>
            <a:ext cx="1248204" cy="1143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00"/>
              </a:lnSpc>
            </a:pPr>
            <a:r>
              <a:rPr lang="en-US" sz="1400" b="1" dirty="0">
                <a:solidFill>
                  <a:srgbClr val="000000"/>
                </a:solidFill>
                <a:latin typeface="Arial"/>
                <a:ea typeface="Malgun Gothic"/>
                <a:cs typeface="Arial"/>
              </a:rPr>
              <a:t>CONCERT'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