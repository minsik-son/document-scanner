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Default Extension="png" ContentType="image/png"/>
  <Override PartName="/ppt/theme/theme1.xml" ContentType="application/vnd.openxmlformats-officedocument.theme+xml"/>
  <Override PartName="/ppt/slides/slide1.xml" ContentType="application/vnd.openxmlformats-officedocument.presentationml.slide+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Layouts/slideLayout1.xml" ContentType="application/vnd.openxmlformats-officedocument.presentationml.slideLayout+xml"/>
</Types>
</file>

<file path=_rels/.rels><?xml version="1.0" encoding="UTF-8" standalone="yes"?>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p="http://schemas.openxmlformats.org/presentationml/2006/main" xmlns:a="http://schemas.openxmlformats.org/drawingml/2006/main" xmlns:r="http://schemas.openxmlformats.org/officeDocument/2006/relationships">
  <p:sldMasterIdLst>
    <p:sldMasterId id="2147483648" r:id="rId1"/>
  </p:sldMasterIdLst>
  <p:sldIdLst>
    <p:sldId id="256" r:id="rId2"/>
  </p:sldIdLst>
  <p:sldSz cx="7772400" cy="10058400"/>
  <p:notesSz cx="6858000" cy="9144000"/>
</p:presentation>
</file>

<file path=ppt/_rels/presentation.xml.rels><?xml version="1.0" encoding="UTF-8" standalone="yes"?>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/Relationships>
</file>

<file path=ppt/slideLayouts/_rels/slideLayout1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p="http://schemas.openxmlformats.org/presentationml/2006/main" xmlns:a="http://schemas.openxmlformats.org/drawingml/2006/main" xmlns:r="http://schemas.openxmlformats.org/officeDocument/2006/relationships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txStyles>
    <p:titleStyle/>
    <p:bodyStyle/>
    <p:otherStyle/>
  </p:txStyles>
</p:sldMaster>
</file>

<file path=ppt/slides/_rels/slide1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/Relationships>
</file>

<file path=ppt/slides/slide1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2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7310" y="268271"/>
            <a:ext cx="491830" cy="59616"/>
          </a:xfrm>
          <a:prstGeom prst="rect">
            <a:avLst/>
          </a:prstGeom>
        </p:spPr>
      </p:pic>
      <p:pic>
        <p:nvPicPr>
          <p:cNvPr id="3" name="Picture 3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28371" y="462022"/>
            <a:ext cx="1311546" cy="59616"/>
          </a:xfrm>
          <a:prstGeom prst="rect">
            <a:avLst/>
          </a:prstGeom>
        </p:spPr>
      </p:pic>
      <p:pic>
        <p:nvPicPr>
          <p:cNvPr id="4" name="Picture 4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550009" y="1386066"/>
            <a:ext cx="789908" cy="44712"/>
          </a:xfrm>
          <a:prstGeom prst="rect">
            <a:avLst/>
          </a:prstGeom>
        </p:spPr>
      </p:pic>
      <p:graphicFrame>
        <p:nvGraphicFramePr>
          <p:cNvPr id="5" name="Table 5"/>
          <p:cNvGraphicFramePr>
            <a:graphicFrameLocks noGrp="1"/>
          </p:cNvGraphicFramePr>
          <p:nvPr/>
        </p:nvGraphicFramePr>
        <p:xfrm>
          <a:off x="1054453" y="3062953"/>
          <a:ext cx="5588975" cy="2376861"/>
        </p:xfrm>
        <a:graphic>
          <a:graphicData uri="http://schemas.openxmlformats.org/drawingml/2006/table">
            <a:tbl>
              <a:tblPr/>
              <a:tblGrid>
                <a:gridCol w="1754938"/>
                <a:gridCol w="1121521"/>
                <a:gridCol w="1382340"/>
                <a:gridCol w="1330176"/>
              </a:tblGrid>
              <a:tr h="320702">
                <a:tc>
                  <a:txBody>
                    <a:bodyPr/>
                    <a:lstStyle/>
                    <a:p>
                      <a:pPr algn="l"/>
                      <a:r>
                        <a:rPr lang="en-US" sz="1200" u="sng" dirty="0">
                          <a:solidFill>
                            <a:srgbClr val="000000"/>
                          </a:solidFill>
                          <a:latin typeface="Arial"/>
                          <a:ea typeface="Malgun Gothic"/>
                          <a:cs typeface="Arial"/>
                        </a:rPr>
                        <a:t>Suite Type</a:t>
                      </a:r>
                    </a:p>
                  </a:txBody>
                  <a:tcPr marL="45720" marR="45720" marT="0" marB="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200" u="sng" dirty="0">
                          <a:solidFill>
                            <a:srgbClr val="000000"/>
                          </a:solidFill>
                          <a:latin typeface="Arial"/>
                          <a:ea typeface="Malgun Gothic"/>
                          <a:cs typeface="Arial"/>
                        </a:rPr>
                        <a:t>Plan</a:t>
                      </a:r>
                    </a:p>
                  </a:txBody>
                  <a:tcPr marL="45720" marR="45720" marT="0" marB="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200" u="sng" dirty="0">
                          <a:solidFill>
                            <a:srgbClr val="000000"/>
                          </a:solidFill>
                          <a:latin typeface="Arial"/>
                          <a:ea typeface="Malgun Gothic"/>
                          <a:cs typeface="Arial"/>
                        </a:rPr>
                        <a:t>Square Feet</a:t>
                      </a:r>
                    </a:p>
                  </a:txBody>
                  <a:tcPr marL="45720" marR="45720" marT="0" marB="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200" u="sng" dirty="0">
                          <a:solidFill>
                            <a:srgbClr val="000000"/>
                          </a:solidFill>
                          <a:latin typeface="Arial"/>
                          <a:ea typeface="Malgun Gothic"/>
                          <a:cs typeface="Arial"/>
                        </a:rPr>
                        <a:t>Starting From</a:t>
                      </a:r>
                    </a:p>
                  </a:txBody>
                  <a:tcPr marL="45720" marR="45720" marT="0" marB="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noFill/>
                  </a:tcPr>
                </a:tc>
              </a:tr>
              <a:tr h="315692">
                <a:tc>
                  <a:txBody>
                    <a:bodyPr/>
                    <a:lstStyle/>
                    <a:p>
                      <a:pPr algn="l"/>
                      <a:r>
                        <a:rPr lang="en-US" sz="1200" dirty="0">
                          <a:solidFill>
                            <a:srgbClr val="000000"/>
                          </a:solidFill>
                          <a:latin typeface="Arial"/>
                          <a:ea typeface="Malgun Gothic"/>
                          <a:cs typeface="Arial"/>
                        </a:rPr>
                        <a:t>One Bedroom</a:t>
                      </a:r>
                    </a:p>
                  </a:txBody>
                  <a:tcPr marL="45720" marR="45720" marT="0" marB="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200" b="1" dirty="0">
                          <a:solidFill>
                            <a:srgbClr val="000000"/>
                          </a:solidFill>
                          <a:latin typeface="Arial"/>
                          <a:ea typeface="Malgun Gothic"/>
                          <a:cs typeface="Arial"/>
                        </a:rPr>
                        <a:t>AT*</a:t>
                      </a:r>
                    </a:p>
                  </a:txBody>
                  <a:tcPr marL="45720" marR="45720" marT="0" marB="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200" dirty="0">
                          <a:solidFill>
                            <a:srgbClr val="000000"/>
                          </a:solidFill>
                          <a:latin typeface="Arial"/>
                          <a:ea typeface="Malgun Gothic"/>
                          <a:cs typeface="Arial"/>
                        </a:rPr>
                        <a:t>476-479</a:t>
                      </a:r>
                    </a:p>
                  </a:txBody>
                  <a:tcPr marL="45720" marR="45720" marT="0" marB="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200" dirty="0">
                          <a:solidFill>
                            <a:srgbClr val="000000"/>
                          </a:solidFill>
                          <a:latin typeface="Arial"/>
                          <a:ea typeface="Malgun Gothic"/>
                          <a:cs typeface="Arial"/>
                        </a:rPr>
                        <a:t>$449,900</a:t>
                      </a:r>
                    </a:p>
                  </a:txBody>
                  <a:tcPr marL="45720" marR="45720" marT="0" marB="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noFill/>
                  </a:tcPr>
                </a:tc>
              </a:tr>
              <a:tr h="277491">
                <a:tc>
                  <a:txBody>
                    <a:bodyPr/>
                    <a:lstStyle/>
                    <a:p>
                      <a:endParaRPr lang="en-US" sz="1200"/>
                    </a:p>
                  </a:txBody>
                  <a:tcPr marL="45720" marR="45720" marT="0" marB="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200" dirty="0">
                          <a:solidFill>
                            <a:srgbClr val="000000"/>
                          </a:solidFill>
                          <a:latin typeface="Arial"/>
                          <a:ea typeface="Malgun Gothic"/>
                          <a:cs typeface="Arial"/>
                        </a:rPr>
                        <a:t>B1 - B7</a:t>
                      </a:r>
                    </a:p>
                  </a:txBody>
                  <a:tcPr marL="45720" marR="45720" marT="0" marB="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200" dirty="0">
                          <a:solidFill>
                            <a:srgbClr val="000000"/>
                          </a:solidFill>
                          <a:latin typeface="Arial"/>
                          <a:ea typeface="Malgun Gothic"/>
                          <a:cs typeface="Arial"/>
                        </a:rPr>
                        <a:t>518 -</a:t>
                      </a:r>
                      <a:r>
                        <a:rPr lang="en-US" sz="1200" b="1" dirty="0">
                          <a:solidFill>
                            <a:srgbClr val="000000"/>
                          </a:solidFill>
                          <a:latin typeface="Arial"/>
                          <a:ea typeface="Malgun Gothic"/>
                          <a:cs typeface="Arial"/>
                        </a:rPr>
                        <a:t> 689</a:t>
                      </a:r>
                    </a:p>
                  </a:txBody>
                  <a:tcPr marL="45720" marR="45720" marT="0" marB="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200" dirty="0">
                          <a:solidFill>
                            <a:srgbClr val="000000"/>
                          </a:solidFill>
                          <a:latin typeface="Arial"/>
                          <a:ea typeface="Malgun Gothic"/>
                          <a:cs typeface="Arial"/>
                        </a:rPr>
                        <a:t>$499,900</a:t>
                      </a:r>
                    </a:p>
                  </a:txBody>
                  <a:tcPr marL="45720" marR="45720" marT="0" marB="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noFill/>
                  </a:tcPr>
                </a:tc>
              </a:tr>
              <a:tr h="279015">
                <a:tc>
                  <a:txBody>
                    <a:bodyPr/>
                    <a:lstStyle/>
                    <a:p>
                      <a:pPr algn="l"/>
                      <a:r>
                        <a:rPr lang="en-US" sz="1200" dirty="0">
                          <a:solidFill>
                            <a:srgbClr val="000000"/>
                          </a:solidFill>
                          <a:latin typeface="Arial"/>
                          <a:ea typeface="Malgun Gothic"/>
                          <a:cs typeface="Arial"/>
                        </a:rPr>
                        <a:t>One Bedroom + Den</a:t>
                      </a:r>
                    </a:p>
                  </a:txBody>
                  <a:tcPr marL="45720" marR="45720" marT="0" marB="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200" dirty="0">
                          <a:solidFill>
                            <a:srgbClr val="000000"/>
                          </a:solidFill>
                          <a:latin typeface="Arial"/>
                          <a:ea typeface="Malgun Gothic"/>
                          <a:cs typeface="Arial"/>
                        </a:rPr>
                        <a:t>C1 - C6</a:t>
                      </a:r>
                    </a:p>
                  </a:txBody>
                  <a:tcPr marL="45720" marR="45720" marT="0" marB="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200" dirty="0">
                          <a:solidFill>
                            <a:srgbClr val="000000"/>
                          </a:solidFill>
                          <a:latin typeface="Arial"/>
                          <a:ea typeface="Malgun Gothic"/>
                          <a:cs typeface="Arial"/>
                        </a:rPr>
                        <a:t>644-769</a:t>
                      </a:r>
                    </a:p>
                  </a:txBody>
                  <a:tcPr marL="45720" marR="45720" marT="0" marB="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200" dirty="0">
                          <a:solidFill>
                            <a:srgbClr val="000000"/>
                          </a:solidFill>
                          <a:latin typeface="Arial"/>
                          <a:ea typeface="Malgun Gothic"/>
                          <a:cs typeface="Arial"/>
                        </a:rPr>
                        <a:t>$599,900</a:t>
                      </a:r>
                    </a:p>
                  </a:txBody>
                  <a:tcPr marL="45720" marR="45720" marT="0" marB="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noFill/>
                  </a:tcPr>
                </a:tc>
              </a:tr>
              <a:tr h="294169">
                <a:tc>
                  <a:txBody>
                    <a:bodyPr/>
                    <a:lstStyle/>
                    <a:p>
                      <a:pPr algn="l"/>
                      <a:r>
                        <a:rPr lang="en-US" sz="1200" dirty="0">
                          <a:solidFill>
                            <a:srgbClr val="000000"/>
                          </a:solidFill>
                          <a:latin typeface="Arial"/>
                          <a:ea typeface="Malgun Gothic"/>
                          <a:cs typeface="Arial"/>
                        </a:rPr>
                        <a:t>Two Bedroom</a:t>
                      </a:r>
                    </a:p>
                  </a:txBody>
                  <a:tcPr marL="45720" marR="45720" marT="0" marB="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200" dirty="0">
                          <a:solidFill>
                            <a:srgbClr val="000000"/>
                          </a:solidFill>
                          <a:latin typeface="Arial"/>
                          <a:ea typeface="Malgun Gothic"/>
                          <a:cs typeface="Arial"/>
                        </a:rPr>
                        <a:t>D1 - D7</a:t>
                      </a:r>
                    </a:p>
                  </a:txBody>
                  <a:tcPr marL="45720" marR="45720" marT="0" marB="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200" dirty="0">
                          <a:solidFill>
                            <a:srgbClr val="000000"/>
                          </a:solidFill>
                          <a:latin typeface="Arial"/>
                          <a:ea typeface="Malgun Gothic"/>
                          <a:cs typeface="Arial"/>
                        </a:rPr>
                        <a:t>801-989</a:t>
                      </a:r>
                    </a:p>
                  </a:txBody>
                  <a:tcPr marL="45720" marR="45720" marT="0" marB="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200" dirty="0">
                          <a:solidFill>
                            <a:srgbClr val="000000"/>
                          </a:solidFill>
                          <a:latin typeface="Arial"/>
                          <a:ea typeface="Malgun Gothic"/>
                          <a:cs typeface="Arial"/>
                        </a:rPr>
                        <a:t>$729,900</a:t>
                      </a:r>
                    </a:p>
                  </a:txBody>
                  <a:tcPr marL="45720" marR="45720" marT="0" marB="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noFill/>
                  </a:tcPr>
                </a:tc>
              </a:tr>
              <a:tr h="311152">
                <a:tc>
                  <a:txBody>
                    <a:bodyPr/>
                    <a:lstStyle/>
                    <a:p>
                      <a:pPr algn="l"/>
                      <a:r>
                        <a:rPr lang="en-US" sz="1200" dirty="0">
                          <a:solidFill>
                            <a:srgbClr val="000000"/>
                          </a:solidFill>
                          <a:latin typeface="Arial"/>
                          <a:ea typeface="Malgun Gothic"/>
                          <a:cs typeface="Arial"/>
                        </a:rPr>
                        <a:t>Two Bedroom + Den</a:t>
                      </a:r>
                    </a:p>
                  </a:txBody>
                  <a:tcPr marL="45720" marR="45720" marT="0" marB="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200" dirty="0">
                          <a:solidFill>
                            <a:srgbClr val="000000"/>
                          </a:solidFill>
                          <a:latin typeface="Arial"/>
                          <a:ea typeface="Malgun Gothic"/>
                          <a:cs typeface="Arial"/>
                        </a:rPr>
                        <a:t>E1 - E7</a:t>
                      </a:r>
                    </a:p>
                  </a:txBody>
                  <a:tcPr marL="45720" marR="45720" marT="0" marB="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200" dirty="0">
                          <a:solidFill>
                            <a:srgbClr val="000000"/>
                          </a:solidFill>
                          <a:latin typeface="Arial"/>
                          <a:ea typeface="Malgun Gothic"/>
                          <a:cs typeface="Arial"/>
                        </a:rPr>
                        <a:t>834-1,062</a:t>
                      </a:r>
                    </a:p>
                  </a:txBody>
                  <a:tcPr marL="45720" marR="45720" marT="0" marB="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200" dirty="0">
                          <a:solidFill>
                            <a:srgbClr val="000000"/>
                          </a:solidFill>
                          <a:latin typeface="Arial"/>
                          <a:ea typeface="Malgun Gothic"/>
                          <a:cs typeface="Arial"/>
                        </a:rPr>
                        <a:t>$749,900</a:t>
                      </a:r>
                    </a:p>
                  </a:txBody>
                  <a:tcPr marL="45720" marR="45720" marT="0" marB="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noFill/>
                  </a:tcPr>
                </a:tc>
              </a:tr>
              <a:tr h="311524">
                <a:tc>
                  <a:txBody>
                    <a:bodyPr/>
                    <a:lstStyle/>
                    <a:p>
                      <a:pPr algn="l"/>
                      <a:r>
                        <a:rPr lang="en-US" sz="1200" dirty="0">
                          <a:solidFill>
                            <a:srgbClr val="000000"/>
                          </a:solidFill>
                          <a:latin typeface="Arial"/>
                          <a:ea typeface="Malgun Gothic"/>
                          <a:cs typeface="Arial"/>
                        </a:rPr>
                        <a:t>Three Bedroom</a:t>
                      </a:r>
                    </a:p>
                  </a:txBody>
                  <a:tcPr marL="45720" marR="45720" marT="0" marB="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200" dirty="0">
                          <a:solidFill>
                            <a:srgbClr val="000000"/>
                          </a:solidFill>
                          <a:latin typeface="Arial"/>
                          <a:ea typeface="Malgun Gothic"/>
                          <a:cs typeface="Arial"/>
                        </a:rPr>
                        <a:t>F1</a:t>
                      </a:r>
                    </a:p>
                  </a:txBody>
                  <a:tcPr marL="45720" marR="45720" marT="0" marB="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200" dirty="0">
                          <a:solidFill>
                            <a:srgbClr val="000000"/>
                          </a:solidFill>
                          <a:latin typeface="Arial"/>
                          <a:ea typeface="Malgun Gothic"/>
                          <a:cs typeface="Arial"/>
                        </a:rPr>
                        <a:t>1,023</a:t>
                      </a:r>
                    </a:p>
                  </a:txBody>
                  <a:tcPr marL="45720" marR="45720" marT="0" marB="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200" dirty="0">
                          <a:solidFill>
                            <a:srgbClr val="000000"/>
                          </a:solidFill>
                          <a:latin typeface="Arial"/>
                          <a:ea typeface="Malgun Gothic"/>
                          <a:cs typeface="Arial"/>
                        </a:rPr>
                        <a:t>$929,900</a:t>
                      </a:r>
                    </a:p>
                  </a:txBody>
                  <a:tcPr marL="45720" marR="45720" marT="0" marB="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noFill/>
                  </a:tcPr>
                </a:tc>
              </a:tr>
              <a:tr h="267116">
                <a:tc>
                  <a:txBody>
                    <a:bodyPr/>
                    <a:lstStyle/>
                    <a:p>
                      <a:pPr algn="l"/>
                      <a:r>
                        <a:rPr lang="en-US" sz="1200" dirty="0">
                          <a:solidFill>
                            <a:srgbClr val="000000"/>
                          </a:solidFill>
                          <a:latin typeface="Arial"/>
                          <a:ea typeface="Malgun Gothic"/>
                          <a:cs typeface="Arial"/>
                        </a:rPr>
                        <a:t>Townhomes</a:t>
                      </a:r>
                    </a:p>
                  </a:txBody>
                  <a:tcPr marL="45720" marR="45720" marT="0" marB="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200" dirty="0">
                          <a:solidFill>
                            <a:srgbClr val="000000"/>
                          </a:solidFill>
                          <a:latin typeface="Arial"/>
                          <a:ea typeface="Malgun Gothic"/>
                          <a:cs typeface="Arial"/>
                        </a:rPr>
                        <a:t>TH1 - TH4</a:t>
                      </a:r>
                    </a:p>
                  </a:txBody>
                  <a:tcPr marL="45720" marR="45720" marT="0" marB="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200" dirty="0">
                          <a:solidFill>
                            <a:srgbClr val="000000"/>
                          </a:solidFill>
                          <a:latin typeface="Arial"/>
                          <a:ea typeface="Malgun Gothic"/>
                          <a:cs typeface="Arial"/>
                        </a:rPr>
                        <a:t>1,338-1,553</a:t>
                      </a:r>
                    </a:p>
                  </a:txBody>
                  <a:tcPr marL="45720" marR="45720" marT="0" marB="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200" dirty="0">
                          <a:solidFill>
                            <a:srgbClr val="000000"/>
                          </a:solidFill>
                          <a:latin typeface="Arial"/>
                          <a:ea typeface="Malgun Gothic"/>
                          <a:cs typeface="Arial"/>
                        </a:rPr>
                        <a:t>$1,249,900</a:t>
                      </a:r>
                    </a:p>
                  </a:txBody>
                  <a:tcPr marL="45720" marR="45720" marT="0" marB="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noFill/>
                  </a:tcPr>
                </a:tc>
              </a:tr>
            </a:tbl>
          </a:graphicData>
        </a:graphic>
      </p:graphicFrame>
      <p:sp>
        <p:nvSpPr>
          <p:cNvPr id="6" name="Text 6"/>
          <p:cNvSpPr txBox="1"/>
          <p:nvPr/>
        </p:nvSpPr>
        <p:spPr>
          <a:xfrm>
            <a:off x="1058179" y="755523"/>
            <a:ext cx="1821074" cy="419100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ts val="3300"/>
              </a:lnSpc>
              <a:buNone/>
            </a:pPr>
            <a:r>
              <a:rPr lang="en-US" sz="2173" spc="155" dirty="0">
                <a:solidFill>
                  <a:srgbClr val="000000"/>
                </a:solidFill>
                <a:latin typeface="Arial"/>
                <a:ea typeface="Malgun Gothic"/>
                <a:cs typeface="Arial"/>
              </a:rPr>
              <a:t>MYRIAD</a:t>
            </a:r>
          </a:p>
        </p:txBody>
      </p:sp>
      <p:sp>
        <p:nvSpPr>
          <p:cNvPr id="7" name="Text 7"/>
          <p:cNvSpPr txBox="1"/>
          <p:nvPr/>
        </p:nvSpPr>
        <p:spPr>
          <a:xfrm>
            <a:off x="1140151" y="1160190"/>
            <a:ext cx="1984086" cy="137160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ts val="1080"/>
              </a:lnSpc>
              <a:buNone/>
            </a:pPr>
            <a:r>
              <a:rPr lang="en-US" sz="900" spc="100" dirty="0">
                <a:solidFill>
                  <a:srgbClr val="000000"/>
                </a:solidFill>
                <a:latin typeface="Arial"/>
                <a:ea typeface="Malgun Gothic"/>
                <a:cs typeface="Arial"/>
              </a:rPr>
              <a:t>HEART OF BURQUITLAM</a:t>
            </a:r>
          </a:p>
        </p:txBody>
      </p:sp>
      <p:sp>
        <p:nvSpPr>
          <p:cNvPr id="8" name="Text 8"/>
          <p:cNvSpPr txBox="1"/>
          <p:nvPr/>
        </p:nvSpPr>
        <p:spPr>
          <a:xfrm>
            <a:off x="2521559" y="2148658"/>
            <a:ext cx="2841062" cy="220980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ctr">
              <a:lnSpc>
                <a:spcPts val="1740"/>
              </a:lnSpc>
              <a:buNone/>
            </a:pPr>
            <a:r>
              <a:rPr lang="en-US" sz="1450" b="1" spc="-31" dirty="0">
                <a:solidFill>
                  <a:srgbClr val="000000"/>
                </a:solidFill>
                <a:latin typeface="Arial"/>
                <a:ea typeface="Malgun Gothic"/>
                <a:cs typeface="Arial"/>
              </a:rPr>
              <a:t>Myriad - Prices at a Glance</a:t>
            </a:r>
          </a:p>
        </p:txBody>
      </p:sp>
      <p:sp>
        <p:nvSpPr>
          <p:cNvPr id="9" name="Text 9"/>
          <p:cNvSpPr txBox="1"/>
          <p:nvPr/>
        </p:nvSpPr>
        <p:spPr>
          <a:xfrm>
            <a:off x="3441411" y="2475204"/>
            <a:ext cx="982728" cy="152400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ctr">
              <a:lnSpc>
                <a:spcPts val="1200"/>
              </a:lnSpc>
              <a:buNone/>
            </a:pPr>
            <a:r>
              <a:rPr lang="en-US" sz="1000" b="1" spc="-27" dirty="0">
                <a:solidFill>
                  <a:srgbClr val="000000"/>
                </a:solidFill>
                <a:latin typeface="Arial"/>
                <a:ea typeface="Malgun Gothic"/>
                <a:cs typeface="Arial"/>
              </a:rPr>
              <a:t>October 2021</a:t>
            </a:r>
          </a:p>
        </p:txBody>
      </p:sp>
      <p:sp>
        <p:nvSpPr>
          <p:cNvPr id="10" name="Text 10"/>
          <p:cNvSpPr txBox="1"/>
          <p:nvPr/>
        </p:nvSpPr>
        <p:spPr>
          <a:xfrm>
            <a:off x="1080535" y="5897299"/>
            <a:ext cx="1383271" cy="152400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ts val="1200"/>
              </a:lnSpc>
              <a:buNone/>
            </a:pPr>
            <a:r>
              <a:rPr lang="en-US" sz="1000" spc="42" dirty="0">
                <a:solidFill>
                  <a:srgbClr val="000000"/>
                </a:solidFill>
                <a:latin typeface="Arial"/>
                <a:ea typeface="Malgun Gothic"/>
                <a:cs typeface="Arial"/>
              </a:rPr>
              <a:t>Deposit Structure:</a:t>
            </a:r>
          </a:p>
        </p:txBody>
      </p:sp>
      <p:sp>
        <p:nvSpPr>
          <p:cNvPr id="11" name="Text 11"/>
          <p:cNvSpPr txBox="1"/>
          <p:nvPr/>
        </p:nvSpPr>
        <p:spPr>
          <a:xfrm>
            <a:off x="1292916" y="6178244"/>
            <a:ext cx="6613619" cy="160020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l" marL="227285" indent="-227285">
              <a:lnSpc>
                <a:spcPts val="1260"/>
              </a:lnSpc>
              <a:buFont typeface="Arial"/>
              <a:buChar char="•"/>
            </a:pPr>
            <a:r>
              <a:rPr lang="en-US" sz="1050" spc="18" dirty="0">
                <a:solidFill>
                  <a:srgbClr val="000000"/>
                </a:solidFill>
                <a:latin typeface="Arial"/>
                <a:ea typeface="Malgun Gothic"/>
                <a:cs typeface="Arial"/>
              </a:rPr>
              <a:t>Initial $10,000 bank draft due upon signing Offer to Purchase and Agreement Sale;</a:t>
            </a:r>
          </a:p>
        </p:txBody>
      </p:sp>
      <p:sp>
        <p:nvSpPr>
          <p:cNvPr id="12" name="Text 12"/>
          <p:cNvSpPr txBox="1"/>
          <p:nvPr/>
        </p:nvSpPr>
        <p:spPr>
          <a:xfrm>
            <a:off x="1292916" y="6357585"/>
            <a:ext cx="4755285" cy="152400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l" marL="219833" indent="-219833">
              <a:lnSpc>
                <a:spcPts val="1200"/>
              </a:lnSpc>
              <a:buFont typeface="Arial"/>
              <a:buChar char="•"/>
            </a:pPr>
            <a:r>
              <a:rPr lang="en-US" sz="1000" spc="30" dirty="0">
                <a:solidFill>
                  <a:srgbClr val="000000"/>
                </a:solidFill>
                <a:latin typeface="Arial"/>
                <a:ea typeface="Malgun Gothic"/>
                <a:cs typeface="Arial"/>
              </a:rPr>
              <a:t>5% within 7 days (less $10,000 initial deposit) upon signing;</a:t>
            </a:r>
          </a:p>
        </p:txBody>
      </p:sp>
      <p:sp>
        <p:nvSpPr>
          <p:cNvPr id="13" name="Text 13"/>
          <p:cNvSpPr txBox="1"/>
          <p:nvPr/>
        </p:nvSpPr>
        <p:spPr>
          <a:xfrm>
            <a:off x="1292916" y="6529687"/>
            <a:ext cx="1383271" cy="144780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l" marL="216107" indent="-216107">
              <a:lnSpc>
                <a:spcPts val="1140"/>
              </a:lnSpc>
              <a:buFont typeface="Arial"/>
              <a:buChar char="•"/>
            </a:pPr>
            <a:r>
              <a:rPr lang="en-US" sz="950" spc="18" dirty="0">
                <a:solidFill>
                  <a:srgbClr val="000000"/>
                </a:solidFill>
                <a:latin typeface="Arial"/>
                <a:ea typeface="Malgun Gothic"/>
                <a:cs typeface="Arial"/>
              </a:rPr>
              <a:t>5% in 180 days;</a:t>
            </a:r>
          </a:p>
        </p:txBody>
      </p:sp>
      <p:sp>
        <p:nvSpPr>
          <p:cNvPr id="14" name="Text 14"/>
          <p:cNvSpPr txBox="1"/>
          <p:nvPr/>
        </p:nvSpPr>
        <p:spPr>
          <a:xfrm>
            <a:off x="1289190" y="6693932"/>
            <a:ext cx="1397244" cy="152400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l" marL="219833" indent="-219833">
              <a:lnSpc>
                <a:spcPts val="1200"/>
              </a:lnSpc>
              <a:buFont typeface="Arial"/>
              <a:buChar char="•"/>
            </a:pPr>
            <a:r>
              <a:rPr lang="en-US" sz="1000" dirty="0">
                <a:solidFill>
                  <a:srgbClr val="000000"/>
                </a:solidFill>
                <a:latin typeface="Arial"/>
                <a:ea typeface="Malgun Gothic"/>
                <a:cs typeface="Arial"/>
              </a:rPr>
              <a:t>5% in 365 days;</a:t>
            </a:r>
          </a:p>
        </p:txBody>
      </p:sp>
      <p:sp>
        <p:nvSpPr>
          <p:cNvPr id="15" name="Text 15"/>
          <p:cNvSpPr txBox="1"/>
          <p:nvPr/>
        </p:nvSpPr>
        <p:spPr>
          <a:xfrm>
            <a:off x="1289190" y="6847792"/>
            <a:ext cx="1415873" cy="152400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l" marL="219833" indent="-219833">
              <a:lnSpc>
                <a:spcPts val="1200"/>
              </a:lnSpc>
              <a:buFont typeface="Arial"/>
              <a:buChar char="•"/>
            </a:pPr>
            <a:r>
              <a:rPr lang="en-US" sz="1000" dirty="0">
                <a:solidFill>
                  <a:srgbClr val="000000"/>
                </a:solidFill>
                <a:latin typeface="Arial"/>
                <a:ea typeface="Malgun Gothic"/>
                <a:cs typeface="Arial"/>
              </a:rPr>
              <a:t>5% in 730 days.</a:t>
            </a:r>
          </a:p>
        </p:txBody>
      </p:sp>
      <p:sp>
        <p:nvSpPr>
          <p:cNvPr id="16" name="Text 16"/>
          <p:cNvSpPr txBox="1"/>
          <p:nvPr/>
        </p:nvSpPr>
        <p:spPr>
          <a:xfrm>
            <a:off x="1292916" y="7033933"/>
            <a:ext cx="5649521" cy="160020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l" marL="219833" indent="-219833">
              <a:lnSpc>
                <a:spcPts val="1260"/>
              </a:lnSpc>
              <a:buFont typeface="Arial"/>
              <a:buChar char="•"/>
            </a:pPr>
            <a:r>
              <a:rPr lang="en-US" sz="1050" spc="22" dirty="0">
                <a:solidFill>
                  <a:srgbClr val="000000"/>
                </a:solidFill>
                <a:latin typeface="Arial"/>
                <a:ea typeface="Malgun Gothic"/>
                <a:cs typeface="Arial"/>
              </a:rPr>
              <a:t>Certified cheques or bank drafts made out to</a:t>
            </a:r>
            <a:r>
              <a:rPr lang="en-US" sz="1050" b="1" spc="22" dirty="0">
                <a:solidFill>
                  <a:srgbClr val="000000"/>
                </a:solidFill>
                <a:latin typeface="Arial"/>
                <a:ea typeface="Malgun Gothic"/>
                <a:cs typeface="Arial"/>
              </a:rPr>
              <a:t> Terra Law Corp. in trust'.</a:t>
            </a:r>
          </a:p>
        </p:txBody>
      </p:sp>
      <p:sp>
        <p:nvSpPr>
          <p:cNvPr id="17" name="Text 17"/>
          <p:cNvSpPr txBox="1"/>
          <p:nvPr/>
        </p:nvSpPr>
        <p:spPr>
          <a:xfrm>
            <a:off x="1080535" y="7909155"/>
            <a:ext cx="5718266" cy="194818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ts val="767"/>
              </a:lnSpc>
              <a:buNone/>
            </a:pPr>
            <a:r>
              <a:rPr lang="en-US" sz="650" spc="10" dirty="0">
                <a:solidFill>
                  <a:srgbClr val="000000"/>
                </a:solidFill>
                <a:latin typeface="Arial"/>
                <a:ea typeface="Malgun Gothic"/>
                <a:cs typeface="Arial"/>
              </a:rPr>
              <a:t>rices do not include GST, may change without notice and are subject to availability. Sulte sizes may vary on final Strata Plan. Concert reserves the right t</a:t>
            </a:r>
            <a:r>
              <a:rPr lang="en-US" sz="650" dirty="0">
                <a:solidFill>
                  <a:srgbClr val="000000"/>
                </a:solidFill>
                <a:latin typeface="Arial"/>
                <a:ea typeface="Malgun Gothic"/>
                <a:cs typeface="Arial"/>
              </a:rPr>
              <a:t> </a:t>
            </a:r>
            <a:r>
              <a:rPr lang="en-US" sz="600" spc="10" dirty="0">
                <a:solidFill>
                  <a:srgbClr val="000000"/>
                </a:solidFill>
                <a:latin typeface="Arial"/>
                <a:ea typeface="Malgun Gothic"/>
                <a:cs typeface="Arial"/>
              </a:rPr>
              <a:t>make modifications and changes to floorplans, project design, specifications and features. October 2021. CONCERT REALTY SERVICES LTD. E.&amp;O.E.</a:t>
            </a:r>
          </a:p>
        </p:txBody>
      </p:sp>
      <p:sp>
        <p:nvSpPr>
          <p:cNvPr id="18" name="Text 18"/>
          <p:cNvSpPr txBox="1"/>
          <p:nvPr/>
        </p:nvSpPr>
        <p:spPr>
          <a:xfrm>
            <a:off x="1069357" y="8798979"/>
            <a:ext cx="2375314" cy="263202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ts val="1036"/>
              </a:lnSpc>
              <a:buNone/>
            </a:pPr>
            <a:r>
              <a:rPr lang="en-US" sz="700" b="1" spc="37" dirty="0">
                <a:solidFill>
                  <a:srgbClr val="000000"/>
                </a:solidFill>
                <a:latin typeface="Arial"/>
                <a:ea typeface="Malgun Gothic"/>
                <a:cs typeface="Arial"/>
              </a:rPr>
              <a:t>MyriadbyConcert.com</a:t>
            </a:r>
            <a:br>
              <a:rPr lang="en-US" sz="750"/>
            </a:br>
            <a:r>
              <a:rPr lang="en-US" sz="750" spc="37" dirty="0">
                <a:solidFill>
                  <a:srgbClr val="000000"/>
                </a:solidFill>
                <a:latin typeface="Arial"/>
                <a:ea typeface="Malgun Gothic"/>
                <a:cs typeface="Arial"/>
              </a:rPr>
              <a:t>101 - 511 Clarke Road, Coquitlam, BC V3J 0J1</a:t>
            </a:r>
          </a:p>
        </p:txBody>
      </p:sp>
      <p:sp>
        <p:nvSpPr>
          <p:cNvPr id="19" name="Text 19"/>
          <p:cNvSpPr txBox="1"/>
          <p:nvPr/>
        </p:nvSpPr>
        <p:spPr>
          <a:xfrm>
            <a:off x="1061905" y="9063082"/>
            <a:ext cx="2920239" cy="121920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ts val="960"/>
              </a:lnSpc>
            </a:pPr>
            <a:r>
              <a:rPr lang="en-US" sz="800" dirty="0">
                <a:solidFill>
                  <a:srgbClr val="000000"/>
                </a:solidFill>
                <a:latin typeface="Arial"/>
                <a:ea typeface="Malgun Gothic"/>
                <a:cs typeface="Arial"/>
              </a:rPr>
              <a:t>604.335.0696 | Admin.Myriad@ConcertProperties.com</a:t>
            </a:r>
          </a:p>
        </p:txBody>
      </p:sp>
      <p:sp>
        <p:nvSpPr>
          <p:cNvPr id="20" name="Text 20"/>
          <p:cNvSpPr txBox="1"/>
          <p:nvPr/>
        </p:nvSpPr>
        <p:spPr>
          <a:xfrm>
            <a:off x="5827437" y="9056054"/>
            <a:ext cx="1248204" cy="121920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ts val="960"/>
              </a:lnSpc>
            </a:pPr>
            <a:r>
              <a:rPr lang="en-US" sz="1400" b="1" dirty="0">
                <a:solidFill>
                  <a:srgbClr val="000000"/>
                </a:solidFill>
                <a:latin typeface="Arial"/>
                <a:ea typeface="Malgun Gothic"/>
                <a:cs typeface="Arial"/>
              </a:rPr>
              <a:t>CONCERT®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