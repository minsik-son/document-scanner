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560310" cy="1069213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39" y="438044"/>
            <a:ext cx="470491" cy="81119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74" y="632730"/>
            <a:ext cx="1233012" cy="259581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74" y="1525041"/>
            <a:ext cx="1216788" cy="48672"/>
          </a:xfrm>
          <a:prstGeom prst="rect">
            <a:avLst/>
          </a:prstGeom>
        </p:spPr>
      </p:pic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062662" y="3174562"/>
          <a:ext cx="5313309" cy="2383001"/>
        </p:xfrm>
        <a:graphic>
          <a:graphicData uri="http://schemas.openxmlformats.org/drawingml/2006/table">
            <a:tbl>
              <a:tblPr/>
              <a:tblGrid>
                <a:gridCol w="1656860"/>
                <a:gridCol w="1066718"/>
                <a:gridCol w="1318187"/>
                <a:gridCol w="1271544"/>
              </a:tblGrid>
              <a:tr h="304335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23836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476 - 479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7504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263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644 - 769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9857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801 - 989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1528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834 - 1,062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01764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282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1,338 - 1,553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 6"/>
          <p:cNvSpPr txBox="1"/>
          <p:nvPr/>
        </p:nvSpPr>
        <p:spPr>
          <a:xfrm>
            <a:off x="1091053" y="917695"/>
            <a:ext cx="1708573" cy="3886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060"/>
              </a:lnSpc>
              <a:buNone/>
            </a:pPr>
            <a:r>
              <a:rPr lang="en-US" sz="2550" spc="16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1164061" y="1313960"/>
            <a:ext cx="1865742" cy="1371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buNone/>
            </a:pPr>
            <a:r>
              <a:rPr lang="en-US" sz="900" spc="5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460954" y="2248064"/>
            <a:ext cx="2687074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6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330450" y="2564759"/>
            <a:ext cx="92780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buNone/>
            </a:pPr>
            <a:r>
              <a:rPr lang="en-US" sz="1050" spc="-4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 2021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062662" y="6036125"/>
            <a:ext cx="1318187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40"/>
              </a:lnSpc>
              <a:buNone/>
            </a:pPr>
            <a:r>
              <a:rPr lang="en-US" sz="950" spc="4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32496" y="6328251"/>
            <a:ext cx="6373573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7930" indent="-247930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32496" y="6478393"/>
            <a:ext cx="458388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35762" indent="-235762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57348" y="6671568"/>
            <a:ext cx="1323257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06854" indent="-206854">
              <a:lnSpc>
                <a:spcPts val="1200"/>
              </a:lnSpc>
              <a:buFont typeface="Arial"/>
              <a:buChar char="•"/>
            </a:pPr>
            <a:r>
              <a:rPr lang="en-US" sz="1000" spc="-2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53292" y="6831624"/>
            <a:ext cx="1338467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0910" indent="-210910">
              <a:lnSpc>
                <a:spcPts val="1260"/>
              </a:lnSpc>
              <a:buFont typeface="Arial"/>
              <a:buChar char="•"/>
            </a:pPr>
            <a:r>
              <a:rPr lang="en-US" sz="1050" spc="-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17465" y="6997387"/>
            <a:ext cx="138832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6736" indent="-246736">
              <a:lnSpc>
                <a:spcPts val="1260"/>
              </a:lnSpc>
              <a:buFont typeface="Arial"/>
              <a:buChar char="•"/>
            </a:pPr>
            <a:r>
              <a:rPr lang="en-US" sz="1050" spc="-4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17466" y="7185591"/>
            <a:ext cx="5469630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42680" indent="-242680">
              <a:lnSpc>
                <a:spcPts val="1260"/>
              </a:lnSpc>
              <a:buFont typeface="Arial"/>
              <a:buChar char="•"/>
            </a:pP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</a:t>
            </a:r>
            <a:r>
              <a:rPr lang="en-US" sz="10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in</a:t>
            </a:r>
            <a:r>
              <a:rPr lang="en-US" sz="10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trust.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22102" y="8084588"/>
            <a:ext cx="5560438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-13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Prices do not include CST, may change without notice and are subject to availability Suite sizes may vary on final Strata Plan. Concert reserves the right to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50" spc="-13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 CONCERT REALTY SERVICES LTD E.80 E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18046" y="9001406"/>
            <a:ext cx="2286548" cy="25476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03"/>
              </a:lnSpc>
              <a:buNone/>
            </a:pPr>
            <a:r>
              <a:rPr lang="en-US" sz="850" b="1" spc="-6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850"/>
            </a:br>
            <a:r>
              <a:rPr lang="en-US" sz="850" spc="-6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0J1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13990" y="9263778"/>
            <a:ext cx="2808753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8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613449" y="9278381"/>
            <a:ext cx="1196508" cy="1219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0"/>
              </a:lnSpc>
            </a:pPr>
            <a:r>
              <a:rPr lang="en-US" sz="145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