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7560310" cy="1069213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39" y="438044"/>
            <a:ext cx="470491" cy="8111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74" y="632730"/>
            <a:ext cx="1233012" cy="25958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74" y="1525041"/>
            <a:ext cx="1216788" cy="48672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62662" y="3174562"/>
          <a:ext cx="5313309" cy="2383001"/>
        </p:xfrm>
        <a:graphic>
          <a:graphicData uri="http://schemas.openxmlformats.org/drawingml/2006/table">
            <a:tbl>
              <a:tblPr/>
              <a:tblGrid>
                <a:gridCol w="1656860"/>
                <a:gridCol w="1066718"/>
                <a:gridCol w="1318187"/>
                <a:gridCol w="1271544"/>
              </a:tblGrid>
              <a:tr h="304335"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Suite Type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Plan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Square Feet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Starting From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23836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One Bedroom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AT*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476 - 479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$449,900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77504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B1 - B7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518 - 689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$499,900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2639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One Bedroom + Den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C1 - C6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644 - 769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$599,900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98575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Two Bedroom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D1 - D7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801 - 989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$729,900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1528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Two Bedroom + Den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E1 - E7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834 - 1,062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$749,900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01764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Three Bedroom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F1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1,023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$929,900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282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Townhomes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TH1 - TH4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1,338 - 1,553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$1,249,900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1091053" y="917695"/>
            <a:ext cx="1708573" cy="3886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60"/>
              </a:lnSpc>
              <a:buNone/>
            </a:pPr>
            <a:r>
              <a:rPr lang="en-US" sz="2266" spc="169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MYRIAD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164061" y="1313960"/>
            <a:ext cx="1865742" cy="137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0"/>
              </a:lnSpc>
              <a:buNone/>
            </a:pPr>
            <a:r>
              <a:rPr lang="en-US" sz="900" spc="58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HEART OF BURQUITLAM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2460954" y="2248064"/>
            <a:ext cx="2687074" cy="2209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40"/>
              </a:lnSpc>
              <a:buNone/>
            </a:pPr>
            <a:r>
              <a:rPr lang="en-US" sz="1450" b="1" spc="-69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Myriad - Prices at a Glance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330450" y="2564759"/>
            <a:ext cx="927801" cy="1600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60"/>
              </a:lnSpc>
              <a:buNone/>
            </a:pPr>
            <a:r>
              <a:rPr lang="en-US" sz="1050" spc="-47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October 2021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62662" y="6036125"/>
            <a:ext cx="1318187" cy="1447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40"/>
              </a:lnSpc>
              <a:buNone/>
            </a:pPr>
            <a:r>
              <a:rPr lang="en-US" sz="950" spc="4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Deposit Structure: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232496" y="6328251"/>
            <a:ext cx="6373573" cy="1600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47930" indent="-247930">
              <a:lnSpc>
                <a:spcPts val="1260"/>
              </a:lnSpc>
              <a:buFont typeface="Arial"/>
              <a:buChar char="•"/>
            </a:pPr>
            <a:r>
              <a:rPr lang="en-US" sz="105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Initial $10,000 bank draft due upon signing Offer to Purchase and Agreement Sale;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232496" y="6478393"/>
            <a:ext cx="4583880" cy="1600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35762" indent="-235762">
              <a:lnSpc>
                <a:spcPts val="1260"/>
              </a:lnSpc>
              <a:buFont typeface="Arial"/>
              <a:buChar char="•"/>
            </a:pPr>
            <a:r>
              <a:rPr lang="en-US" sz="105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5% within 7 days (less $10,000 initial deposit) upon signing;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257348" y="6671568"/>
            <a:ext cx="1323257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06854" indent="-206854">
              <a:lnSpc>
                <a:spcPts val="1200"/>
              </a:lnSpc>
              <a:buFont typeface="Arial"/>
              <a:buChar char="•"/>
            </a:pPr>
            <a:r>
              <a:rPr lang="en-US" sz="1000" spc="-29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5% in 180 days;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253292" y="6831624"/>
            <a:ext cx="1338467" cy="1600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10910" indent="-210910">
              <a:lnSpc>
                <a:spcPts val="1260"/>
              </a:lnSpc>
              <a:buFont typeface="Arial"/>
              <a:buChar char="•"/>
            </a:pPr>
            <a:r>
              <a:rPr lang="en-US" sz="1050" spc="-5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5% in 365 days;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217465" y="6997387"/>
            <a:ext cx="1388320" cy="1600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46736" indent="-246736">
              <a:lnSpc>
                <a:spcPts val="1260"/>
              </a:lnSpc>
              <a:buFont typeface="Arial"/>
              <a:buChar char="•"/>
            </a:pPr>
            <a:r>
              <a:rPr lang="en-US" sz="1050" spc="-48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5% in 730 days.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217466" y="7185591"/>
            <a:ext cx="5469630" cy="1600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42680" indent="-242680">
              <a:lnSpc>
                <a:spcPts val="1260"/>
              </a:lnSpc>
              <a:buFont typeface="Arial"/>
              <a:buChar char="•"/>
            </a:pPr>
            <a:r>
              <a:rPr lang="en-US" sz="105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Certified cheques or bank drafts made out to</a:t>
            </a:r>
            <a:r>
              <a:rPr lang="en-US" sz="105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Terra Law Corp.</a:t>
            </a:r>
            <a:r>
              <a:rPr lang="en-US" sz="105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in</a:t>
            </a:r>
            <a:r>
              <a:rPr lang="en-US" sz="105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trust.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022102" y="8084588"/>
            <a:ext cx="5560438" cy="1948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67"/>
              </a:lnSpc>
              <a:buNone/>
            </a:pPr>
            <a:r>
              <a:rPr lang="en-US" sz="650" spc="-13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Prices do not include CST, may change without notice and are subject to availability Suite sizes may vary on final Strata Plan. Concert reserves the right to</a:t>
            </a:r>
            <a:r>
              <a:rPr lang="en-US" sz="65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en-US" sz="650" spc="-13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make modifications and changes to floorplans, project design, specifications and features. October 2021 CONCERT REALTY SERVICES LTD E.80 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18046" y="9001406"/>
            <a:ext cx="2286548" cy="2547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3"/>
              </a:lnSpc>
              <a:buNone/>
            </a:pPr>
            <a:r>
              <a:rPr lang="en-US" sz="850" b="1" spc="-66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MyriadbyConcert.com</a:t>
            </a:r>
            <a:br>
              <a:rPr lang="en-US" sz="850"/>
            </a:br>
            <a:r>
              <a:rPr lang="en-US" sz="850" spc="-66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101 - 511 Clarke Road, Coquitlam, BC V3J 0J1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013990" y="9263778"/>
            <a:ext cx="2808753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0"/>
              </a:lnSpc>
            </a:pPr>
            <a:r>
              <a:rPr lang="en-US" sz="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604.335.0696 | Admin.Myriad@ConcertProperties.com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13449" y="9278381"/>
            <a:ext cx="1196508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0"/>
              </a:lnSpc>
            </a:pPr>
            <a:r>
              <a:rPr lang="en-US" sz="145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CONCERT®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